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10789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400" b="1">
                <a:solidFill>
                  <a:srgbClr val="50E3C2"/>
                </a:solidFill>
                <a:latin typeface="Inter"/>
              </a:defRPr>
            </a:pPr>
            <a:r>
              <a:t>LOGSTRATA</a:t>
            </a:r>
          </a:p>
          <a:p>
            <a:pPr>
              <a:spcBef>
                <a:spcPts val="1500"/>
              </a:spcBef>
              <a:defRPr sz="2600" b="0">
                <a:solidFill>
                  <a:srgbClr val="FAFAFA"/>
                </a:solidFill>
                <a:latin typeface="Inter"/>
              </a:defRPr>
            </a:pPr>
            <a:r>
              <a:t>Security-Aware Log-Driven Kubernetes Autoscaling</a:t>
            </a:r>
          </a:p>
          <a:p>
            <a:pPr>
              <a:spcBef>
                <a:spcPts val="3000"/>
              </a:spcBef>
              <a:defRPr sz="1600">
                <a:solidFill>
                  <a:srgbClr val="A1A1A1"/>
                </a:solidFill>
                <a:latin typeface="Inter"/>
              </a:defRPr>
            </a:pPr>
            <a:r>
              <a:t>Real-time access log ingestion for predictive scaling and threat-preemptive cluster defense</a:t>
            </a:r>
          </a:p>
        </p:txBody>
      </p:sp>
    </p:spTree>
  </p:cSld>
  <p:clrMapOvr>
    <a:masterClrMapping/>
  </p:clrMapOvr>
  <p:transition spee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AFAFA"/>
                </a:solidFill>
                <a:latin typeface="Inter"/>
              </a:defRPr>
            </a:pPr>
            <a:r>
              <a:t>The Problem: CPU/Memory Metric Lag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FAFAFA"/>
                </a:solidFill>
                <a:latin typeface="Inter"/>
              </a:defRPr>
            </a:pPr>
            <a:r>
              <a:t>Traditional HPA (Metrics Polling)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Metrics Server polls CPU every 60 seconds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Average utilization calculation hides sudden spikes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Containers crash-loop before scaling is triggered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Result: Extreme latency and 504 Gateway Timeout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EF4444"/>
                </a:solidFill>
                <a:latin typeface="Inter"/>
              </a:defRPr>
            </a:pPr>
            <a:r>
              <a:t>Autoscaling during DDoS &amp; Flash Sales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DDoS attacks deplete bandwidth and connection threads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Resource depletion triggers scaling on bad traffic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Standard autoscaler scales out pods, spending cloud budget on attackers</a:t>
            </a:r>
          </a:p>
          <a:p>
            <a:pPr>
              <a:spcBef>
                <a:spcPts val="1500"/>
              </a:spcBef>
              <a:defRPr sz="1400">
                <a:solidFill>
                  <a:srgbClr val="A1A1A1"/>
                </a:solidFill>
                <a:latin typeface="Inter"/>
              </a:defRPr>
            </a:pPr>
            <a:r>
              <a:t>• Result: Budget abuse, node saturation, and complete service failure</a:t>
            </a:r>
          </a:p>
        </p:txBody>
      </p:sp>
    </p:spTree>
  </p:cSld>
  <p:clrMapOvr>
    <a:masterClrMapping/>
  </p:clrMapOvr>
  <p:transition spee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AFAFA"/>
                </a:solidFill>
                <a:latin typeface="Inter"/>
              </a:defRPr>
            </a:pPr>
            <a:r>
              <a:t>The Solution: Log-Driven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200" b="1">
                <a:solidFill>
                  <a:srgbClr val="10B981"/>
                </a:solidFill>
                <a:latin typeface="Inter"/>
              </a:defRPr>
            </a:pPr>
            <a:r>
              <a:t>Predictive Pre-emption with LogStrata</a:t>
            </a:r>
          </a:p>
          <a:p>
            <a:pPr>
              <a:spcBef>
                <a:spcPts val="1200"/>
              </a:spcBef>
              <a:defRPr sz="15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✓ Real-Time Log Ingestion: Tacks stdout stream via containerd socket logs directly.</a:t>
            </a:r>
          </a:p>
          <a:p>
            <a:pPr>
              <a:spcBef>
                <a:spcPts val="1200"/>
              </a:spcBef>
              <a:defRPr sz="15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✓ Predictive Logic: Analyzes application level logs (/checkout, /api status) to scale pods before CPU load moves.</a:t>
            </a:r>
          </a:p>
          <a:p>
            <a:pPr>
              <a:spcBef>
                <a:spcPts val="1200"/>
              </a:spcBef>
              <a:defRPr sz="15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✓ Security Co-processing: Detects brute force or scanning signatures within access logs instantly.</a:t>
            </a:r>
          </a:p>
          <a:p>
            <a:pPr>
              <a:spcBef>
                <a:spcPts val="1200"/>
              </a:spcBef>
              <a:defRPr sz="15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✓ Adaptive Ingress Rules: Updates Nginx Ingress policies to throttle/block attack IPs and maintain legitimate access.</a:t>
            </a:r>
          </a:p>
          <a:p>
            <a:pPr>
              <a:spcBef>
                <a:spcPts val="1200"/>
              </a:spcBef>
              <a:defRPr sz="15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✓ Cooldown Windows: Safe cooldown scaling timer patterns to prevent replica thrashing.</a:t>
            </a:r>
          </a:p>
        </p:txBody>
      </p:sp>
    </p:spTree>
  </p:cSld>
  <p:clrMapOvr>
    <a:masterClrMapping/>
  </p:clrMapOvr>
  <p:transition spee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AFAFA"/>
                </a:solidFill>
                <a:latin typeface="Inter"/>
              </a:defRPr>
            </a:pPr>
            <a:r>
              <a:t>System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468880" cy="411480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50E3C2"/>
                </a:solidFill>
                <a:latin typeface="Inter"/>
              </a:defRPr>
            </a:pPr>
            <a:r>
              <a:t>1. COLLECT</a:t>
            </a:r>
          </a:p>
          <a:p>
            <a:pPr>
              <a:spcBef>
                <a:spcPts val="1000"/>
              </a:spcBef>
              <a:defRPr sz="1300" b="1">
                <a:solidFill>
                  <a:srgbClr val="FAFAFA"/>
                </a:solidFill>
                <a:latin typeface="Inter"/>
              </a:defRPr>
            </a:pPr>
            <a:r>
              <a:t>Fluentd DaemonSet</a:t>
            </a:r>
          </a:p>
          <a:p>
            <a:pPr>
              <a:spcBef>
                <a:spcPts val="1500"/>
              </a:spcBef>
              <a:defRPr sz="1200">
                <a:solidFill>
                  <a:srgbClr val="A1A1A1"/>
                </a:solidFill>
                <a:latin typeface="Inter"/>
              </a:defRPr>
            </a:pPr>
            <a:r>
              <a:t>Tails container log sockets directly from cluster nodes, indexing fields on-the-fly.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468880" cy="411480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50E3C2"/>
                </a:solidFill>
                <a:latin typeface="Inter"/>
              </a:defRPr>
            </a:pPr>
            <a:r>
              <a:t>2. FILTER</a:t>
            </a:r>
          </a:p>
          <a:p>
            <a:pPr>
              <a:spcBef>
                <a:spcPts val="1000"/>
              </a:spcBef>
              <a:defRPr sz="1300" b="1">
                <a:solidFill>
                  <a:srgbClr val="FAFAFA"/>
                </a:solidFill>
                <a:latin typeface="Inter"/>
              </a:defRPr>
            </a:pPr>
            <a:r>
              <a:t>Elasticsearch Ingestion</a:t>
            </a:r>
          </a:p>
          <a:p>
            <a:pPr>
              <a:spcBef>
                <a:spcPts val="1500"/>
              </a:spcBef>
              <a:defRPr sz="1200">
                <a:solidFill>
                  <a:srgbClr val="A1A1A1"/>
                </a:solidFill>
                <a:latin typeface="Inter"/>
              </a:defRPr>
            </a:pPr>
            <a:r>
              <a:t>Indices logs in structured templates; evaluates query traffic spikes and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2468880" cy="411480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50E3C2"/>
                </a:solidFill>
                <a:latin typeface="Inter"/>
              </a:defRPr>
            </a:pPr>
            <a:r>
              <a:t>3. DECIDE</a:t>
            </a:r>
          </a:p>
          <a:p>
            <a:pPr>
              <a:spcBef>
                <a:spcPts val="1000"/>
              </a:spcBef>
              <a:defRPr sz="1300" b="1">
                <a:solidFill>
                  <a:srgbClr val="FAFAFA"/>
                </a:solidFill>
                <a:latin typeface="Inter"/>
              </a:defRPr>
            </a:pPr>
            <a:r>
              <a:t>LogStrata Daemon</a:t>
            </a:r>
          </a:p>
          <a:p>
            <a:pPr>
              <a:spcBef>
                <a:spcPts val="1500"/>
              </a:spcBef>
              <a:defRPr sz="1200">
                <a:solidFill>
                  <a:srgbClr val="A1A1A1"/>
                </a:solidFill>
                <a:latin typeface="Inter"/>
              </a:defRPr>
            </a:pPr>
            <a:r>
              <a:t>Evaluates LogAutoscalerPolicy CRD settings and calculates desired replicas.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828800"/>
            <a:ext cx="2468880" cy="411480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50E3C2"/>
                </a:solidFill>
                <a:latin typeface="Inter"/>
              </a:defRPr>
            </a:pPr>
            <a:r>
              <a:t>4. ACT</a:t>
            </a:r>
          </a:p>
          <a:p>
            <a:pPr>
              <a:spcBef>
                <a:spcPts val="1000"/>
              </a:spcBef>
              <a:defRPr sz="1300" b="1">
                <a:solidFill>
                  <a:srgbClr val="FAFAFA"/>
                </a:solidFill>
                <a:latin typeface="Inter"/>
              </a:defRPr>
            </a:pPr>
            <a:r>
              <a:t>Kubernetes Controller</a:t>
            </a:r>
          </a:p>
          <a:p>
            <a:pPr>
              <a:spcBef>
                <a:spcPts val="1500"/>
              </a:spcBef>
              <a:defRPr sz="1200">
                <a:solidFill>
                  <a:srgbClr val="A1A1A1"/>
                </a:solidFill>
                <a:latin typeface="Inter"/>
              </a:defRPr>
            </a:pPr>
            <a:r>
              <a:t>Triggers replica scaling and updates Nginx ConfigMap blocklists within 50ms.</a:t>
            </a:r>
          </a:p>
        </p:txBody>
      </p:sp>
    </p:spTree>
  </p:cSld>
  <p:clrMapOvr>
    <a:masterClrMapping/>
  </p:clrMapOvr>
  <p:transition spee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AFAFA"/>
                </a:solidFill>
                <a:latin typeface="Inter"/>
              </a:defRPr>
            </a:pPr>
            <a:r>
              <a:t>Autoscaling Logic &amp; Custom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FAFAFA"/>
                </a:solidFill>
                <a:latin typeface="Inter"/>
              </a:defRPr>
            </a:pPr>
            <a:r>
              <a:t>Scaling Calculation Model</a:t>
            </a:r>
          </a:p>
          <a:p>
            <a:pPr>
              <a:spcBef>
                <a:spcPts val="2500"/>
              </a:spcBef>
              <a:defRPr sz="1300" b="1">
                <a:solidFill>
                  <a:srgbClr val="50E3C2"/>
                </a:solidFill>
                <a:latin typeface="Courier New"/>
              </a:defRPr>
            </a:pPr>
            <a:r>
              <a:t>DesiredReplicas = ceil( CurrentReplicas * ( CurrentMetric / TargetThreshold ) )</a:t>
            </a:r>
          </a:p>
          <a:p>
            <a:pPr>
              <a:spcBef>
                <a:spcPts val="1500"/>
              </a:spcBef>
              <a:defRPr sz="1300">
                <a:solidFill>
                  <a:srgbClr val="A1A1A1"/>
                </a:solidFill>
                <a:latin typeface="Inter"/>
              </a:defRPr>
            </a:pPr>
            <a:r>
              <a:t>• Triggered directly by application-level requests per second (RPS).</a:t>
            </a:r>
          </a:p>
          <a:p>
            <a:pPr>
              <a:spcBef>
                <a:spcPts val="1500"/>
              </a:spcBef>
              <a:defRPr sz="1300">
                <a:solidFill>
                  <a:srgbClr val="A1A1A1"/>
                </a:solidFill>
                <a:latin typeface="Inter"/>
              </a:defRPr>
            </a:pPr>
            <a:r>
              <a:t>• Uses P95/P99 latency percentile goals to calculate bounds.</a:t>
            </a:r>
          </a:p>
          <a:p>
            <a:pPr>
              <a:spcBef>
                <a:spcPts val="1500"/>
              </a:spcBef>
              <a:defRPr sz="1300">
                <a:solidFill>
                  <a:srgbClr val="A1A1A1"/>
                </a:solidFill>
                <a:latin typeface="Inter"/>
              </a:defRPr>
            </a:pPr>
            <a:r>
              <a:t>• Ignores noise from bad requests (e.g. 404 or 401 scans).</a:t>
            </a:r>
          </a:p>
          <a:p>
            <a:pPr>
              <a:spcBef>
                <a:spcPts val="1500"/>
              </a:spcBef>
              <a:defRPr sz="1300">
                <a:solidFill>
                  <a:srgbClr val="A1A1A1"/>
                </a:solidFill>
                <a:latin typeface="Inter"/>
              </a:defRPr>
            </a:pPr>
            <a:r>
              <a:t>• Aggregates metrics directly from raw server access log feeds.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FAFAFA"/>
                </a:solidFill>
                <a:latin typeface="Inter"/>
              </a:defRPr>
            </a:pPr>
            <a:r>
              <a:t>LogAutoscalerPolicy CRD</a:t>
            </a:r>
          </a:p>
          <a:p>
            <a:pPr>
              <a:spcBef>
                <a:spcPts val="1500"/>
              </a:spcBef>
              <a:defRPr sz="1000">
                <a:solidFill>
                  <a:srgbClr val="A1A1A1"/>
                </a:solidFill>
                <a:latin typeface="Courier New"/>
              </a:defRPr>
            </a:pPr>
            <a:r>
              <a:t>apiVersion: core.logstrata.io/v1alpha1</a:t>
            </a:r>
            <a:br/>
            <a:r>
              <a:t>kind: LogAutoscalerPolicy</a:t>
            </a:r>
            <a:br/>
            <a:r>
              <a:t>spec:</a:t>
            </a:r>
            <a:br/>
            <a:r>
              <a:t>  scaleTargetRef:</a:t>
            </a:r>
            <a:br/>
            <a:r>
              <a:t>    kind: Deployment</a:t>
            </a:r>
            <a:br/>
            <a:r>
              <a:t>    name: commerce-frontend</a:t>
            </a:r>
            <a:br/>
            <a:r>
              <a:t>  metricSources:</a:t>
            </a:r>
            <a:br/>
            <a:r>
              <a:t>    - type: ElasticSearchQuery</a:t>
            </a:r>
            <a:br/>
            <a:r>
              <a:t>      elasticsearch:</a:t>
            </a:r>
            <a:br/>
            <a:r>
              <a:t>        query: 'status:200 AND path:/checkout'</a:t>
            </a:r>
            <a:br/>
            <a:r>
              <a:t>        trigger:</a:t>
            </a:r>
            <a:br/>
            <a:r>
              <a:t>          metricName: throughput_rps</a:t>
            </a:r>
            <a:br/>
            <a:r>
              <a:t>          threshold: 450.0</a:t>
            </a:r>
            <a:br/>
            <a:r>
              <a:t>  minReplicas: 3</a:t>
            </a:r>
            <a:br/>
            <a:r>
              <a:t>  maxReplicas: 25</a:t>
            </a:r>
          </a:p>
        </p:txBody>
      </p:sp>
    </p:spTree>
  </p:cSld>
  <p:clrMapOvr>
    <a:masterClrMapping/>
  </p:clrMapOvr>
  <p:transition spee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AFAFA"/>
                </a:solidFill>
                <a:latin typeface="Inter"/>
              </a:defRPr>
            </a:pPr>
            <a:r>
              <a:t>Security &amp; Ingress Threat 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200" b="1">
                <a:solidFill>
                  <a:srgbClr val="F5A623"/>
                </a:solidFill>
                <a:latin typeface="Inter"/>
              </a:defRPr>
            </a:pPr>
            <a:r>
              <a:t>Anti-DDoS and Brute Force Pre-emption</a:t>
            </a:r>
          </a:p>
          <a:p>
            <a:pPr>
              <a:spcBef>
                <a:spcPts val="1500"/>
              </a:spcBef>
              <a:defRPr sz="14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🛡️ Real-Time Signature Analysis: LogStrata analyzes ingress logs for patterns of high-velocity brute-force scanning (e.g. repeated 401/403/404 errors).</a:t>
            </a:r>
          </a:p>
          <a:p>
            <a:pPr>
              <a:spcBef>
                <a:spcPts val="1500"/>
              </a:spcBef>
              <a:defRPr sz="14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🛡️ Zero-Trust Auto-Blocklist: Malicious IPs are auto-assigned a block lease term and added to the cluster's active blocklist.</a:t>
            </a:r>
          </a:p>
          <a:p>
            <a:pPr>
              <a:spcBef>
                <a:spcPts val="1500"/>
              </a:spcBef>
              <a:defRPr sz="14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🛡️ Ingress Policy Enforcement: The controller patches the Nginx Ingress ConfigMap in real-time, blocking threats at the network edge before pods are overloaded.</a:t>
            </a:r>
          </a:p>
          <a:p>
            <a:pPr>
              <a:spcBef>
                <a:spcPts val="1500"/>
              </a:spcBef>
              <a:defRPr sz="1400">
                <a:solidFill>
                  <a:srgbClr val="FAFAFA"/>
                </a:solidFill>
                <a:latin typeface="Inter"/>
              </a:defRPr>
            </a:pPr>
            <a:r>
              <a:rPr b="1">
                <a:solidFill>
                  <a:srgbClr val="50E3C2"/>
                </a:solidFill>
              </a:rPr>
              <a:t>🛡️ SIEM Compliance Logs: Block events and audit logs are shipped to Elasticsearch for compliance auditing and analytics reporting.</a:t>
            </a:r>
          </a:p>
        </p:txBody>
      </p:sp>
    </p:spTree>
  </p:cSld>
  <p:clrMapOvr>
    <a:masterClrMapping/>
  </p:clrMapOvr>
  <p:transition spee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AFAFA"/>
                </a:solidFill>
                <a:latin typeface="Inter"/>
              </a:defRPr>
            </a:pPr>
            <a:r>
              <a:t>Real-Time DevSecOps Playground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411480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3600" b="1">
                <a:solidFill>
                  <a:srgbClr val="50E3C2"/>
                </a:solidFill>
                <a:latin typeface="Inter"/>
              </a:defRPr>
            </a:pPr>
            <a:r>
              <a:t>&lt; 50ms</a:t>
            </a:r>
          </a:p>
          <a:p>
            <a:pPr>
              <a:spcBef>
                <a:spcPts val="1000"/>
              </a:spcBef>
              <a:defRPr sz="1400" b="1">
                <a:solidFill>
                  <a:srgbClr val="FAFAFA"/>
                </a:solidFill>
                <a:latin typeface="Inter"/>
              </a:defRPr>
            </a:pPr>
            <a:r>
              <a:t>DECISION LOOP</a:t>
            </a:r>
          </a:p>
          <a:p>
            <a:pPr>
              <a:spcBef>
                <a:spcPts val="2000"/>
              </a:spcBef>
              <a:defRPr sz="1300">
                <a:solidFill>
                  <a:srgbClr val="A1A1A1"/>
                </a:solidFill>
                <a:latin typeface="Inter"/>
              </a:defRPr>
            </a:pPr>
            <a:r>
              <a:t>Telemetry logs collection, query analysis, and ingress patching completes under 50ms.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828800"/>
            <a:ext cx="3383280" cy="411480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3600" b="1">
                <a:solidFill>
                  <a:srgbClr val="10B981"/>
                </a:solidFill>
                <a:latin typeface="Inter"/>
              </a:defRPr>
            </a:pPr>
            <a:r>
              <a:t>5</a:t>
            </a:r>
          </a:p>
          <a:p>
            <a:pPr>
              <a:spcBef>
                <a:spcPts val="1000"/>
              </a:spcBef>
              <a:defRPr sz="1400" b="1">
                <a:solidFill>
                  <a:srgbClr val="FAFAFA"/>
                </a:solidFill>
                <a:latin typeface="Inter"/>
              </a:defRPr>
            </a:pPr>
            <a:r>
              <a:t>PROVIDER TYPES</a:t>
            </a:r>
          </a:p>
          <a:p>
            <a:pPr>
              <a:spcBef>
                <a:spcPts val="2000"/>
              </a:spcBef>
              <a:defRPr sz="1300">
                <a:solidFill>
                  <a:srgbClr val="A1A1A1"/>
                </a:solidFill>
                <a:latin typeface="Inter"/>
              </a:defRPr>
            </a:pPr>
            <a:r>
              <a:t>Supported environments: AWS EKS, Google GKE, Azure AKS, Minikube, and Custom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828800"/>
            <a:ext cx="3383280" cy="411480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3600" b="1">
                <a:solidFill>
                  <a:srgbClr val="10B981"/>
                </a:solidFill>
                <a:latin typeface="Inter"/>
              </a:defRPr>
            </a:pPr>
            <a:r>
              <a:t>Active</a:t>
            </a:r>
          </a:p>
          <a:p>
            <a:pPr>
              <a:spcBef>
                <a:spcPts val="1000"/>
              </a:spcBef>
              <a:defRPr sz="1400" b="1">
                <a:solidFill>
                  <a:srgbClr val="FAFAFA"/>
                </a:solidFill>
                <a:latin typeface="Inter"/>
              </a:defRPr>
            </a:pPr>
            <a:r>
              <a:t>SIMULATION LAB</a:t>
            </a:r>
          </a:p>
          <a:p>
            <a:pPr>
              <a:spcBef>
                <a:spcPts val="2000"/>
              </a:spcBef>
              <a:defRPr sz="1300">
                <a:solidFill>
                  <a:srgbClr val="A1A1A1"/>
                </a:solidFill>
                <a:latin typeface="Inter"/>
              </a:defRPr>
            </a:pPr>
            <a:r>
              <a:t>Includes built-in traffic generation sliders, pod chaos injector, and live autoscaling graphs.</a:t>
            </a:r>
          </a:p>
        </p:txBody>
      </p:sp>
    </p:spTree>
  </p:cSld>
  <p:clrMapOvr>
    <a:masterClrMapping/>
  </p:clrMapOvr>
  <p:transition spee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der_b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AFAFA"/>
                </a:solidFill>
                <a:latin typeface="Inter"/>
              </a:defRPr>
            </a:pPr>
            <a:r>
              <a:t>Conclusion &amp; Getting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21212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200" b="1">
                <a:solidFill>
                  <a:srgbClr val="FAFAFA"/>
                </a:solidFill>
                <a:latin typeface="Inter"/>
              </a:defRPr>
            </a:pPr>
            <a:r>
              <a:t>Deploying LogStrata to Production</a:t>
            </a:r>
          </a:p>
          <a:p>
            <a:pPr>
              <a:spcBef>
                <a:spcPts val="1500"/>
              </a:spcBef>
              <a:defRPr sz="1500" b="1">
                <a:solidFill>
                  <a:srgbClr val="50E3C2"/>
                </a:solidFill>
                <a:latin typeface="Inter"/>
              </a:defRPr>
            </a:pPr>
            <a:r>
              <a:t>1. Add Helm Repository &amp; Update</a:t>
            </a:r>
          </a:p>
          <a:p>
            <a:pPr>
              <a:spcBef>
                <a:spcPts val="500"/>
              </a:spcBef>
              <a:defRPr sz="1200">
                <a:solidFill>
                  <a:srgbClr val="A1A1A1"/>
                </a:solidFill>
                <a:latin typeface="Courier New"/>
              </a:defRPr>
            </a:pPr>
            <a:r>
              <a:t>$ helm repo add logstrata https://helm.logstrata.io &amp;&amp; helm repo update</a:t>
            </a:r>
          </a:p>
          <a:p>
            <a:pPr>
              <a:spcBef>
                <a:spcPts val="1500"/>
              </a:spcBef>
              <a:defRPr sz="1500" b="1">
                <a:solidFill>
                  <a:srgbClr val="50E3C2"/>
                </a:solidFill>
                <a:latin typeface="Inter"/>
              </a:defRPr>
            </a:pPr>
            <a:r>
              <a:t>2. Deploy Agent Namespace &amp; Collectors</a:t>
            </a:r>
          </a:p>
          <a:p>
            <a:pPr>
              <a:spcBef>
                <a:spcPts val="500"/>
              </a:spcBef>
              <a:defRPr sz="1200">
                <a:solidFill>
                  <a:srgbClr val="A1A1A1"/>
                </a:solidFill>
                <a:latin typeface="Courier New"/>
              </a:defRPr>
            </a:pPr>
            <a:r>
              <a:t>$ helm install logstrata logstrata/logstrata --namespace logstrata-system --create-namespace</a:t>
            </a:r>
          </a:p>
          <a:p>
            <a:pPr>
              <a:spcBef>
                <a:spcPts val="3000"/>
              </a:spcBef>
              <a:defRPr sz="1300">
                <a:solidFill>
                  <a:srgbClr val="FAFAFA"/>
                </a:solidFill>
                <a:latin typeface="Inter"/>
              </a:defRPr>
            </a:pPr>
            <a:r>
              <a:rPr i="1"/>
              <a:t>Summary: LogStrata transforms Kubernetes autoscaling from a slow reactive resource utilization model into an intelligent, secure, log-first transaction rate model, maintaining cluster responsiveness during intense traffic shifts.</a:t>
            </a:r>
          </a:p>
        </p:txBody>
      </p:sp>
    </p:spTree>
  </p:cSld>
  <p:clrMapOvr>
    <a:masterClrMapping/>
  </p:clrMapOvr>
  <p:transition spee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